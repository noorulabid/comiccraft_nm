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94360"/>
            <a:ext cx="3291840" cy="1828800"/>
          </a:xfrm>
          <a:prstGeom prst="roundRect">
            <a:avLst/>
          </a:prstGeom>
          <a:solidFill>
            <a:srgbClr val="FFD33D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60520" y="594360"/>
            <a:ext cx="3291840" cy="1828800"/>
          </a:xfrm>
          <a:prstGeom prst="roundRect">
            <a:avLst/>
          </a:prstGeom>
          <a:solidFill>
            <a:srgbClr val="FF5D8F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26679" y="594360"/>
            <a:ext cx="3840480" cy="1828800"/>
          </a:xfrm>
          <a:prstGeom prst="roundRect">
            <a:avLst/>
          </a:prstGeom>
          <a:solidFill>
            <a:srgbClr val="3ED3DD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FFFFFF"/>
                </a:solidFill>
                <a:latin typeface="Arial Black"/>
              </a:defRPr>
            </a:pPr>
            <a:r>
              <a:t>COMICCRAFT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0690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D33D"/>
                </a:solidFill>
                <a:latin typeface="Arial Black"/>
              </a:defRPr>
            </a:pPr>
            <a:r>
              <a:t>AI-POWERED COMIC STORY &amp; PANEL GENERATOR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5074920"/>
            <a:ext cx="649224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800">
                <a:solidFill>
                  <a:srgbClr val="191923"/>
                </a:solidFill>
                <a:latin typeface="Arial"/>
              </a:defRPr>
            </a:pPr>
            <a:r>
              <a:t>TURN IDEAS → STORIES → PANELS → COMICS!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 Black"/>
              </a:defRPr>
            </a:pPr>
            <a:r>
              <a:t>PROJECT OVERVIEW</a:t>
            </a:r>
          </a:p>
        </p:txBody>
      </p:sp>
      <p:sp>
        <p:nvSpPr>
          <p:cNvPr id="4" name="Oval 3"/>
          <p:cNvSpPr/>
          <p:nvPr/>
        </p:nvSpPr>
        <p:spPr>
          <a:xfrm>
            <a:off x="11109960" y="100584"/>
            <a:ext cx="502920" cy="502920"/>
          </a:xfrm>
          <a:prstGeom prst="ellipse">
            <a:avLst/>
          </a:prstGeom>
          <a:solidFill>
            <a:srgbClr val="FFD3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91923"/>
                </a:solidFill>
                <a:latin typeface="Arial Black"/>
              </a:defRPr>
            </a:pPr>
            <a: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109728" cy="5074920"/>
          </a:xfrm>
          <a:prstGeom prst="rect">
            <a:avLst/>
          </a:prstGeom>
          <a:solidFill>
            <a:srgbClr val="FFD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325880"/>
            <a:ext cx="102870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700">
                <a:solidFill>
                  <a:srgbClr val="191923"/>
                </a:solidFill>
                <a:latin typeface="Arial"/>
              </a:defRPr>
            </a:pPr>
            <a:r>
              <a:t>ComicCraft is an AI-powered application that helps users turn a simple idea or story concept into a structured comic.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167128"/>
            <a:ext cx="10287000" cy="685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700">
                <a:solidFill>
                  <a:srgbClr val="191923"/>
                </a:solidFill>
                <a:latin typeface="Arial"/>
              </a:defRPr>
            </a:pPr>
            <a:r>
              <a:t>It combines story generation, panel planning, and image-generation workflows in one platform.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1923"/>
                </a:solidFill>
                <a:latin typeface="Arial"/>
              </a:defRPr>
            </a:pPr>
            <a:r>
              <a:t>COMICCRAFT • AI-ASSISTED CREATIVE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 Black"/>
              </a:defRPr>
            </a:pPr>
            <a:r>
              <a:t>PROBLEM STATEMENT</a:t>
            </a:r>
          </a:p>
        </p:txBody>
      </p:sp>
      <p:sp>
        <p:nvSpPr>
          <p:cNvPr id="4" name="Oval 3"/>
          <p:cNvSpPr/>
          <p:nvPr/>
        </p:nvSpPr>
        <p:spPr>
          <a:xfrm>
            <a:off x="11109960" y="100584"/>
            <a:ext cx="502920" cy="502920"/>
          </a:xfrm>
          <a:prstGeom prst="ellipse">
            <a:avLst/>
          </a:prstGeom>
          <a:solidFill>
            <a:srgbClr val="FFD3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91923"/>
                </a:solidFill>
                <a:latin typeface="Arial Black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109728" cy="5074920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325880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Creating a comic traditionally requires multiple skills: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221991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Story writing and dialogue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118103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Character and scene planning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325880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Panel composition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221991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Illustration and editing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3118103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ComicCraft aims to simplify this process for beginners, students, creators, and rapid prototyping.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1923"/>
                </a:solidFill>
                <a:latin typeface="Arial"/>
              </a:defRPr>
            </a:pPr>
            <a:r>
              <a:t>COMICCRAFT • AI-ASSISTED CREATIVE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 Black"/>
              </a:defRPr>
            </a:pPr>
            <a:r>
              <a:t>OBJECTIVES</a:t>
            </a:r>
          </a:p>
        </p:txBody>
      </p:sp>
      <p:sp>
        <p:nvSpPr>
          <p:cNvPr id="4" name="Oval 3"/>
          <p:cNvSpPr/>
          <p:nvPr/>
        </p:nvSpPr>
        <p:spPr>
          <a:xfrm>
            <a:off x="11109960" y="100584"/>
            <a:ext cx="502920" cy="502920"/>
          </a:xfrm>
          <a:prstGeom prst="ellipse">
            <a:avLst/>
          </a:prstGeom>
          <a:solidFill>
            <a:srgbClr val="FFD3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91923"/>
                </a:solidFill>
                <a:latin typeface="Arial Black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109728" cy="5074920"/>
          </a:xfrm>
          <a:prstGeom prst="rect">
            <a:avLst/>
          </a:prstGeom>
          <a:solidFill>
            <a:srgbClr val="3E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325880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Generate comic stories from user prompts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221991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Break stories into individual panels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118103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Generate dialogue and scene descriptions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325880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Support AI-based image generation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221991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Provide a simple web interface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3118103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Reduce the time needed to create a comic draft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1923"/>
                </a:solidFill>
                <a:latin typeface="Arial"/>
              </a:defRPr>
            </a:pPr>
            <a:r>
              <a:t>COMICCRAFT • AI-ASSISTED CREATIVE 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 Black"/>
              </a:defRPr>
            </a:pPr>
            <a:r>
              <a:t>KEY FEATURES</a:t>
            </a:r>
          </a:p>
        </p:txBody>
      </p:sp>
      <p:sp>
        <p:nvSpPr>
          <p:cNvPr id="4" name="Oval 3"/>
          <p:cNvSpPr/>
          <p:nvPr/>
        </p:nvSpPr>
        <p:spPr>
          <a:xfrm>
            <a:off x="11109960" y="100584"/>
            <a:ext cx="502920" cy="502920"/>
          </a:xfrm>
          <a:prstGeom prst="ellipse">
            <a:avLst/>
          </a:prstGeom>
          <a:solidFill>
            <a:srgbClr val="FFD3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91923"/>
                </a:solidFill>
                <a:latin typeface="Arial Black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109728" cy="5074920"/>
          </a:xfrm>
          <a:prstGeom prst="rect">
            <a:avLst/>
          </a:prstGeom>
          <a:solidFill>
            <a:srgbClr val="FFD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325880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Prompt-based comic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221991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AI-assisted story creation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118103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Multi-panel comic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4014215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Character and scene descriptions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325880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AI image-generation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221991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Configurable panel and image settings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118103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Local web application 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1923"/>
                </a:solidFill>
                <a:latin typeface="Arial"/>
              </a:defRPr>
            </a:pPr>
            <a:r>
              <a:t>COMICCRAFT • AI-ASSISTED CREATIVE WORKFLOW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 Black"/>
              </a:defRPr>
            </a:pPr>
            <a:r>
              <a:t>SYSTEM WORKFLOW</a:t>
            </a:r>
          </a:p>
        </p:txBody>
      </p:sp>
      <p:sp>
        <p:nvSpPr>
          <p:cNvPr id="4" name="Oval 3"/>
          <p:cNvSpPr/>
          <p:nvPr/>
        </p:nvSpPr>
        <p:spPr>
          <a:xfrm>
            <a:off x="11109960" y="100584"/>
            <a:ext cx="502920" cy="502920"/>
          </a:xfrm>
          <a:prstGeom prst="ellipse">
            <a:avLst/>
          </a:prstGeom>
          <a:solidFill>
            <a:srgbClr val="FFD3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91923"/>
                </a:solidFill>
                <a:latin typeface="Arial Black"/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109728" cy="5074920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325880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1. User enters a comic idea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221991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2. ComicCraft processes the prompt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118103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3. AI generates the story and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4014215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4. Story is divided into comic panels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325880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5. Panel descriptions are prepared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221991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6. Images are generated using the configured image provider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118103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7. The final comic output is presented to the 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1923"/>
                </a:solidFill>
                <a:latin typeface="Arial"/>
              </a:defRPr>
            </a:pPr>
            <a:r>
              <a:t>COMICCRAFT • AI-ASSISTED CREATIVE WORKFLOW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 Black"/>
              </a:defRPr>
            </a:pPr>
            <a:r>
              <a:t>TECHNOLOGY STACK</a:t>
            </a:r>
          </a:p>
        </p:txBody>
      </p:sp>
      <p:sp>
        <p:nvSpPr>
          <p:cNvPr id="4" name="Oval 3"/>
          <p:cNvSpPr/>
          <p:nvPr/>
        </p:nvSpPr>
        <p:spPr>
          <a:xfrm>
            <a:off x="11109960" y="100584"/>
            <a:ext cx="502920" cy="502920"/>
          </a:xfrm>
          <a:prstGeom prst="ellipse">
            <a:avLst/>
          </a:prstGeom>
          <a:solidFill>
            <a:srgbClr val="FFD3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91923"/>
                </a:solidFill>
                <a:latin typeface="Arial Black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109728" cy="5074920"/>
          </a:xfrm>
          <a:prstGeom prst="rect">
            <a:avLst/>
          </a:prstGeom>
          <a:solidFill>
            <a:srgbClr val="3E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325880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Frontend: Web-based user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221991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Backend: Python application with FastAPI/Uvicorn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118103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AI: Google Gemini models for story generation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325880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Configuration: Environment variables using .env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221991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Image Generation: Configurable AI image provider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3118103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Development: Python virtual environment (.venv)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1923"/>
                </a:solidFill>
                <a:latin typeface="Arial"/>
              </a:defRPr>
            </a:pPr>
            <a:r>
              <a:t>COMICCRAFT • AI-ASSISTED CREATIVE 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 Black"/>
              </a:defRPr>
            </a:pPr>
            <a:r>
              <a:t>AI MODELS &amp; CONFIGURATION</a:t>
            </a:r>
          </a:p>
        </p:txBody>
      </p:sp>
      <p:sp>
        <p:nvSpPr>
          <p:cNvPr id="4" name="Oval 3"/>
          <p:cNvSpPr/>
          <p:nvPr/>
        </p:nvSpPr>
        <p:spPr>
          <a:xfrm>
            <a:off x="11109960" y="100584"/>
            <a:ext cx="502920" cy="502920"/>
          </a:xfrm>
          <a:prstGeom prst="ellipse">
            <a:avLst/>
          </a:prstGeom>
          <a:solidFill>
            <a:srgbClr val="FFD3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91923"/>
                </a:solidFill>
                <a:latin typeface="Arial Black"/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109728" cy="5074920"/>
          </a:xfrm>
          <a:prstGeom prst="rect">
            <a:avLst/>
          </a:prstGeom>
          <a:solidFill>
            <a:srgbClr val="FFD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325880"/>
            <a:ext cx="102870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700">
                <a:solidFill>
                  <a:srgbClr val="191923"/>
                </a:solidFill>
                <a:latin typeface="Arial"/>
              </a:defRPr>
            </a:pPr>
            <a:r>
              <a:t>ComicCraft can use Gemini models for different story-generation tasks.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167128"/>
            <a:ext cx="10287000" cy="685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700">
                <a:solidFill>
                  <a:srgbClr val="191923"/>
                </a:solidFill>
                <a:latin typeface="Arial"/>
              </a:defRPr>
            </a:pPr>
            <a:r>
              <a:t>Example configuration: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008376"/>
            <a:ext cx="102870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700">
                <a:solidFill>
                  <a:srgbClr val="191923"/>
                </a:solidFill>
                <a:latin typeface="Arial"/>
              </a:defRPr>
            </a:pPr>
            <a:r>
              <a:t>Gemini Flash — fast generation and structured tasks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849624"/>
            <a:ext cx="10287000" cy="685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700">
                <a:solidFill>
                  <a:srgbClr val="191923"/>
                </a:solidFill>
                <a:latin typeface="Arial"/>
              </a:defRPr>
            </a:pPr>
            <a:r>
              <a:t>Gemini Pro — more advanced story generation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690872"/>
            <a:ext cx="102870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700">
                <a:solidFill>
                  <a:srgbClr val="191923"/>
                </a:solidFill>
                <a:latin typeface="Arial"/>
              </a:defRPr>
            </a:pPr>
            <a:r>
              <a:t>API credentials are stored in the local .env configuration file rather than hard-coded in source code.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1923"/>
                </a:solidFill>
                <a:latin typeface="Arial"/>
              </a:defRPr>
            </a:pPr>
            <a:r>
              <a:t>COMICCRAFT • AI-ASSISTED CREATIVE WORKFLOW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 Black"/>
              </a:defRPr>
            </a:pPr>
            <a:r>
              <a:t>BENEFITS</a:t>
            </a:r>
          </a:p>
        </p:txBody>
      </p:sp>
      <p:sp>
        <p:nvSpPr>
          <p:cNvPr id="4" name="Oval 3"/>
          <p:cNvSpPr/>
          <p:nvPr/>
        </p:nvSpPr>
        <p:spPr>
          <a:xfrm>
            <a:off x="11109960" y="100584"/>
            <a:ext cx="502920" cy="502920"/>
          </a:xfrm>
          <a:prstGeom prst="ellipse">
            <a:avLst/>
          </a:prstGeom>
          <a:solidFill>
            <a:srgbClr val="FFD3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91923"/>
                </a:solidFill>
                <a:latin typeface="Arial Black"/>
              </a:defRPr>
            </a:pPr>
            <a: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109728" cy="5074920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325880"/>
            <a:ext cx="102870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700">
                <a:solidFill>
                  <a:srgbClr val="191923"/>
                </a:solidFill>
                <a:latin typeface="Arial"/>
              </a:defRPr>
            </a:pPr>
            <a:r>
              <a:t>Faster comic prototyping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167128"/>
            <a:ext cx="10287000" cy="685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700">
                <a:solidFill>
                  <a:srgbClr val="191923"/>
                </a:solidFill>
                <a:latin typeface="Arial"/>
              </a:defRPr>
            </a:pPr>
            <a:r>
              <a:t>Accessible to users without advanced drawing skills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008376"/>
            <a:ext cx="102870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700">
                <a:solidFill>
                  <a:srgbClr val="191923"/>
                </a:solidFill>
                <a:latin typeface="Arial"/>
              </a:defRPr>
            </a:pPr>
            <a:r>
              <a:t>Combines writing and visual planning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849624"/>
            <a:ext cx="10287000" cy="685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700">
                <a:solidFill>
                  <a:srgbClr val="191923"/>
                </a:solidFill>
                <a:latin typeface="Arial"/>
              </a:defRPr>
            </a:pPr>
            <a:r>
              <a:t>Useful for education and creative projects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690872"/>
            <a:ext cx="102870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700">
                <a:solidFill>
                  <a:srgbClr val="191923"/>
                </a:solidFill>
                <a:latin typeface="Arial"/>
              </a:defRPr>
            </a:pPr>
            <a:r>
              <a:t>Easy to extend with additional AI models and image providers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1923"/>
                </a:solidFill>
                <a:latin typeface="Arial"/>
              </a:defRPr>
            </a:pPr>
            <a:r>
              <a:t>COMICCRAFT • AI-ASSISTED CREATIVE WORKFLOW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 Black"/>
              </a:defRPr>
            </a:pPr>
            <a:r>
              <a:t>FUTURE ENHANCEMENTS</a:t>
            </a:r>
          </a:p>
        </p:txBody>
      </p:sp>
      <p:sp>
        <p:nvSpPr>
          <p:cNvPr id="4" name="Oval 3"/>
          <p:cNvSpPr/>
          <p:nvPr/>
        </p:nvSpPr>
        <p:spPr>
          <a:xfrm>
            <a:off x="11109960" y="100584"/>
            <a:ext cx="502920" cy="502920"/>
          </a:xfrm>
          <a:prstGeom prst="ellipse">
            <a:avLst/>
          </a:prstGeom>
          <a:solidFill>
            <a:srgbClr val="FFD3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91923"/>
                </a:solidFill>
                <a:latin typeface="Arial Black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109728" cy="5074920"/>
          </a:xfrm>
          <a:prstGeom prst="rect">
            <a:avLst/>
          </a:prstGeom>
          <a:solidFill>
            <a:srgbClr val="3E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325880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Character consistency across panels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221991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Automatic speech-bubble placement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118103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More image-generation providers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4014215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Comic layout templates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325880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Export to PDF and presentation formats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221991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User accounts and project history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118103"/>
            <a:ext cx="4892040" cy="74980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500">
                <a:solidFill>
                  <a:srgbClr val="191923"/>
                </a:solidFill>
                <a:latin typeface="Arial"/>
              </a:defRPr>
            </a:pPr>
            <a:r>
              <a:t>Improved editing and regeneration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1923"/>
                </a:solidFill>
                <a:latin typeface="Arial"/>
              </a:defRPr>
            </a:pPr>
            <a:r>
              <a:t>COMICCRAFT • AI-ASSISTED CREATIVE WORKFLOW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 Black"/>
              </a:defRPr>
            </a:pPr>
            <a:r>
              <a:t>CONCLUSION</a:t>
            </a:r>
          </a:p>
        </p:txBody>
      </p:sp>
      <p:sp>
        <p:nvSpPr>
          <p:cNvPr id="4" name="Oval 3"/>
          <p:cNvSpPr/>
          <p:nvPr/>
        </p:nvSpPr>
        <p:spPr>
          <a:xfrm>
            <a:off x="11109960" y="100584"/>
            <a:ext cx="502920" cy="502920"/>
          </a:xfrm>
          <a:prstGeom prst="ellipse">
            <a:avLst/>
          </a:prstGeom>
          <a:solidFill>
            <a:srgbClr val="FFD3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91923"/>
                </a:solidFill>
                <a:latin typeface="Arial Black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109728" cy="5074920"/>
          </a:xfrm>
          <a:prstGeom prst="rect">
            <a:avLst/>
          </a:prstGeom>
          <a:solidFill>
            <a:srgbClr val="FFD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325880"/>
            <a:ext cx="102870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700">
                <a:solidFill>
                  <a:srgbClr val="191923"/>
                </a:solidFill>
                <a:latin typeface="Arial"/>
              </a:defRPr>
            </a:pPr>
            <a:r>
              <a:t>ComicCraft brings AI-assisted storytelling and comic creation into a single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167128"/>
            <a:ext cx="10287000" cy="685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700">
                <a:solidFill>
                  <a:srgbClr val="191923"/>
                </a:solidFill>
                <a:latin typeface="Arial"/>
              </a:defRPr>
            </a:pPr>
            <a:r>
              <a:t>It provides a foundation for turning ideas into structured, visual comic experiences quickly and efficiently.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1923"/>
                </a:solidFill>
                <a:latin typeface="Arial"/>
              </a:defRPr>
            </a:pPr>
            <a:r>
              <a:t>COMICCRAFT • AI-ASSISTED CREATIVE WORKFLOW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 Black"/>
              </a:defRPr>
            </a:pPr>
            <a:r>
              <a:t>THANK YOU</a:t>
            </a:r>
          </a:p>
        </p:txBody>
      </p:sp>
      <p:sp>
        <p:nvSpPr>
          <p:cNvPr id="4" name="Oval 3"/>
          <p:cNvSpPr/>
          <p:nvPr/>
        </p:nvSpPr>
        <p:spPr>
          <a:xfrm>
            <a:off x="11109960" y="100584"/>
            <a:ext cx="502920" cy="502920"/>
          </a:xfrm>
          <a:prstGeom prst="ellipse">
            <a:avLst/>
          </a:prstGeom>
          <a:solidFill>
            <a:srgbClr val="FFD3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164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91923"/>
                </a:solidFill>
                <a:latin typeface="Arial Black"/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109728" cy="5074920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325880"/>
            <a:ext cx="102870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700">
                <a:solidFill>
                  <a:srgbClr val="191923"/>
                </a:solidFill>
                <a:latin typeface="Arial"/>
              </a:defRPr>
            </a:pPr>
            <a:r>
              <a:t>COMICCRAFT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167128"/>
            <a:ext cx="10287000" cy="685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9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700">
                <a:solidFill>
                  <a:srgbClr val="191923"/>
                </a:solidFill>
                <a:latin typeface="Arial"/>
              </a:defRPr>
            </a:pPr>
            <a:r>
              <a:t>AI-Powered Comic Creation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1923"/>
                </a:solidFill>
                <a:latin typeface="Arial"/>
              </a:defRPr>
            </a:pPr>
            <a:r>
              <a:t>COMICCRAFT • AI-ASSISTED CREATIVE WORKFLOW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